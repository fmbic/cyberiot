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5"/>
  </p:normalViewPr>
  <p:slideViewPr>
    <p:cSldViewPr snapToGrid="0">
      <p:cViewPr varScale="1">
        <p:scale>
          <a:sx n="113" d="100"/>
          <a:sy n="113" d="100"/>
        </p:scale>
        <p:origin x="7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7722-5E0B-D924-583D-955748B31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D334D-1ACD-37E0-4687-06A5B9FC7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24AC4-ACE1-E69F-95E2-799098DC7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A856-81F4-7544-B1B1-FC9AFAED89DB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13150-159A-C213-53F6-57EC79418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81EA3-54B3-0C8F-E534-99C16EC00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31CE-05DE-2542-8BE1-EEFD60BE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99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E394F-E75A-3604-110B-B4ED67E5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CCE1B-0C93-BBA7-8A9A-F9E86A11A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42E63-CECE-F149-5011-243A8930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A856-81F4-7544-B1B1-FC9AFAED89DB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6BE6E-DE25-1297-B92F-CF46D549B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E366-B541-FF95-1B05-86061D91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31CE-05DE-2542-8BE1-EEFD60BE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5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7CDED-B6C8-F65C-0B33-8C3CE24F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38EE7-1254-C3FF-6B19-5219E8EAA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7B599-08D6-7F84-47D9-CA6CB610F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A856-81F4-7544-B1B1-FC9AFAED89DB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3E819-4581-C61C-8030-FFABC31CE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44204-913C-0BCB-495E-924BEA40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31CE-05DE-2542-8BE1-EEFD60BE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4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7591-82BE-011F-A574-4FBB9B3E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B6324-56E6-3964-B186-F840D579C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2B94D-64CB-4AC4-ED29-6745C7579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74C61-3378-E1A1-3801-2C0FC366A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A856-81F4-7544-B1B1-FC9AFAED89DB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5BDF1-FBD8-BB76-C0C5-14EED4AA8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FE3A2-ED77-5F41-2A25-BC461F2A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31CE-05DE-2542-8BE1-EEFD60BE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13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5F779-D232-F3F5-F97A-8A13D96E6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86997-5CAC-DE21-487F-281C2AC22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DDC2F-E6CF-51B0-5718-C528EF701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24F216-3DA4-6874-2A20-557D80EA4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18ABC1-BAD7-C3E7-32FA-301651A46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9520F4-C761-C08C-6DB7-FC89B8FE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A856-81F4-7544-B1B1-FC9AFAED89DB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22EE2B-4DFA-E44B-E00B-BAD70DB7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E671CE-FE44-E391-F80B-99F79B38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31CE-05DE-2542-8BE1-EEFD60BE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89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033B-C490-F6E1-7F4F-590DDF72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170AA-FD01-BBF5-39A6-EB523BAF7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A856-81F4-7544-B1B1-FC9AFAED89DB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EC178-E39F-3666-26EF-E07E84B72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AEACA-C431-DCB8-85D2-7DB2CBD1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31CE-05DE-2542-8BE1-EEFD60BE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38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327C85-D9E1-D426-1605-22B7A8821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A856-81F4-7544-B1B1-FC9AFAED89DB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4779AB-0852-4666-8D68-5FBAA3646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9B2E2-BA35-46A1-376D-1A157EABB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31CE-05DE-2542-8BE1-EEFD60BE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21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30506-DC1B-196D-1ED5-71A000EF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D400C-5798-A38B-E901-6F5EAE553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76C45-A2BF-5ED7-5016-69C9E1A5D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66270-2F4B-6F21-510F-2B5095FF6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A856-81F4-7544-B1B1-FC9AFAED89DB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E6A48-5615-3ABF-6F13-B9F5B60E7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5E921-A6FA-206E-C64D-B7A86D8D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31CE-05DE-2542-8BE1-EEFD60BE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92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63A0A-432E-5EFE-3D15-621D3F8C7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71619-2CA1-6DEF-B08B-73329070C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55796-1B54-1D4A-9CCD-F65061F95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DA787-BD52-A4BB-132F-056A449C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A856-81F4-7544-B1B1-FC9AFAED89DB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07117-B74B-F44D-E668-0CD227A5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060DB-5359-B46D-3A30-6783DBD2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31CE-05DE-2542-8BE1-EEFD60BE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2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E07E4-F75C-F633-6977-6362038F9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95F8C-CE47-1697-B586-339F275EB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D7D6A-66F6-F5D2-C508-92CF0CD62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A856-81F4-7544-B1B1-FC9AFAED89DB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1FDD8-4EF2-599A-493F-80C19E90D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8177C-A5AD-FFFB-B520-2602714D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31CE-05DE-2542-8BE1-EEFD60BE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6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956B09-6D47-900A-1C7D-460AC0A66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81600-3E25-1CE2-DF0A-6E6D5EFF3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1BD03-BD05-9889-7388-269FB079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A856-81F4-7544-B1B1-FC9AFAED89DB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72E8-60AF-F2C9-3652-1D5213DF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AA953-3949-511A-EF20-E7567BF6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531CE-05DE-2542-8BE1-EEFD60BE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3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EFBA8-708D-A1CD-385D-980D88C30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B86B1-781E-90FC-04E7-44A50F1B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47FCE-7FC5-424A-8344-F028EA93B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6A856-81F4-7544-B1B1-FC9AFAED89DB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45C61-D53B-DF21-6BB5-FC683423D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1AFD-AC92-7CD6-5B76-D8B985E11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531CE-05DE-2542-8BE1-EEFD60BE3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7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57FD530-BD16-1762-28CD-2B3E43DF58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137614" y="-887722"/>
            <a:ext cx="11836353" cy="11836353"/>
          </a:xfrm>
          <a:prstGeom prst="rect">
            <a:avLst/>
          </a:prstGeom>
        </p:spPr>
      </p:pic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8F14B8D-3F32-A131-CDC2-5DAAD7EF6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832" y="4805614"/>
            <a:ext cx="2121001" cy="2121001"/>
          </a:xfrm>
          <a:prstGeom prst="rect">
            <a:avLst/>
          </a:prstGeom>
        </p:spPr>
      </p:pic>
      <p:pic>
        <p:nvPicPr>
          <p:cNvPr id="11" name="Picture 10" descr="A purple and black logo&#10;&#10;AI-generated content may be incorrect.">
            <a:extLst>
              <a:ext uri="{FF2B5EF4-FFF2-40B4-BE49-F238E27FC236}">
                <a16:creationId xmlns:a16="http://schemas.microsoft.com/office/drawing/2014/main" id="{39B8F02F-FE66-D206-77EB-4384D66D4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509" y="4659741"/>
            <a:ext cx="2284193" cy="2284193"/>
          </a:xfrm>
          <a:prstGeom prst="rect">
            <a:avLst/>
          </a:prstGeom>
        </p:spPr>
      </p:pic>
      <p:pic>
        <p:nvPicPr>
          <p:cNvPr id="9" name="Picture 8" descr="A blue whale with black background&#10;&#10;AI-generated content may be incorrect.">
            <a:extLst>
              <a:ext uri="{FF2B5EF4-FFF2-40B4-BE49-F238E27FC236}">
                <a16:creationId xmlns:a16="http://schemas.microsoft.com/office/drawing/2014/main" id="{EDA59EA1-7F3B-712D-4E65-011A7FFCC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2737" y="4822933"/>
            <a:ext cx="2284193" cy="2284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A24CB8-D84B-D3AA-DDC3-9867B74A9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приложений для анализа сетевого трафика с помощью 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DBFA2-7EFC-93E9-30FA-8B6598B91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эффективности 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 (</a:t>
            </a: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GPT-4, </a:t>
            </a: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ручной разработки на примере 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InSDN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Intrusion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D8CB0B-3E4D-90F6-20C5-3F9A26389BC5}"/>
              </a:ext>
            </a:extLst>
          </p:cNvPr>
          <p:cNvSpPr txBox="1"/>
          <p:nvPr/>
        </p:nvSpPr>
        <p:spPr>
          <a:xfrm>
            <a:off x="9949054" y="6097858"/>
            <a:ext cx="2024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Иконка от  автора</a:t>
            </a:r>
          </a:p>
          <a:p>
            <a:pPr algn="ctr"/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Freepik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196EFA-DE1E-0E1A-8E34-EC71DE08752A}"/>
              </a:ext>
            </a:extLst>
          </p:cNvPr>
          <p:cNvSpPr txBox="1"/>
          <p:nvPr/>
        </p:nvSpPr>
        <p:spPr>
          <a:xfrm>
            <a:off x="137614" y="6305548"/>
            <a:ext cx="2435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FMbic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cyberiot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161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2AE10-4B6D-61DB-4D04-206B69148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u="none" strike="noStrike" dirty="0">
                <a:effectLst/>
                <a:latin typeface="quote-cjk-patch"/>
              </a:rPr>
              <a:t>Почему это важно?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7D83D-9CC7-4B89-3CB0-D4C306026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49625"/>
            <a:ext cx="10515600" cy="4351338"/>
          </a:xfrm>
        </p:spPr>
        <p:txBody>
          <a:bodyPr/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quote-cjk-patch"/>
              </a:rPr>
              <a:t>SDN </a:t>
            </a:r>
            <a:r>
              <a:rPr lang="ru-RU" b="0" i="0" dirty="0">
                <a:effectLst/>
                <a:latin typeface="quote-cjk-patch"/>
              </a:rPr>
              <a:t>и </a:t>
            </a:r>
            <a:r>
              <a:rPr lang="en-US" b="0" i="0" dirty="0">
                <a:effectLst/>
                <a:latin typeface="quote-cjk-patch"/>
              </a:rPr>
              <a:t>IoT-</a:t>
            </a:r>
            <a:r>
              <a:rPr lang="ru-RU" b="0" i="0" dirty="0">
                <a:effectLst/>
                <a:latin typeface="quote-cjk-patch"/>
              </a:rPr>
              <a:t>сети активно атакуются (</a:t>
            </a:r>
            <a:r>
              <a:rPr lang="en-US" b="0" i="0" dirty="0">
                <a:effectLst/>
                <a:latin typeface="quote-cjk-patch"/>
              </a:rPr>
              <a:t>DDoS, DoS, Brute Force, Botnet)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Нужны быстрые и точные системы обнаружения вторжений (</a:t>
            </a:r>
            <a:r>
              <a:rPr lang="en-US" b="0" i="0" dirty="0">
                <a:effectLst/>
                <a:latin typeface="quote-cjk-patch"/>
              </a:rPr>
              <a:t>IDS)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Разработка </a:t>
            </a:r>
            <a:r>
              <a:rPr lang="en-US" b="0" i="0" dirty="0">
                <a:effectLst/>
                <a:latin typeface="quote-cjk-patch"/>
              </a:rPr>
              <a:t>IDS </a:t>
            </a:r>
            <a:r>
              <a:rPr lang="ru-RU" b="0" i="0" dirty="0">
                <a:effectLst/>
                <a:latin typeface="quote-cjk-patch"/>
              </a:rPr>
              <a:t>вручную - </a:t>
            </a:r>
            <a:r>
              <a:rPr lang="ru-RU" dirty="0">
                <a:latin typeface="quote-cjk-patch"/>
              </a:rPr>
              <a:t>занимает </a:t>
            </a:r>
            <a:r>
              <a:rPr lang="ru-RU" b="0" i="0" dirty="0">
                <a:effectLst/>
                <a:latin typeface="quote-cjk-patch"/>
              </a:rPr>
              <a:t>часы/дни и требует высокой экспертизы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quote-cjk-patch"/>
              </a:rPr>
              <a:t>LLM </a:t>
            </a:r>
            <a:r>
              <a:rPr lang="ru-RU" b="0" i="0" dirty="0">
                <a:effectLst/>
                <a:latin typeface="quote-cjk-patch"/>
              </a:rPr>
              <a:t>ускоряют создание прототипов в десятки раз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400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AABB-F53B-9971-270B-14803F3DA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effectLst/>
                <a:latin typeface="quote-cjk-patch"/>
              </a:rPr>
              <a:t>Используемые </a:t>
            </a:r>
            <a:r>
              <a:rPr lang="ru-RU" b="1" i="0" dirty="0" err="1">
                <a:effectLst/>
                <a:latin typeface="quote-cjk-patch"/>
              </a:rPr>
              <a:t>датасеты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D4BBCE-5F36-83FF-0566-ED991085C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899080"/>
              </p:ext>
            </p:extLst>
          </p:nvPr>
        </p:nvGraphicFramePr>
        <p:xfrm>
          <a:off x="838200" y="1825625"/>
          <a:ext cx="10515600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812799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823021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588751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84721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0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Датасет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Записей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Признаков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Типы атак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77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InSDN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343k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DoS, DDoS, Probe, Botnet, Web, Brute Force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69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IoT Intrusion</a:t>
                      </a:r>
                      <a:endParaRPr lang="en-US" dirty="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1.19M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DDoS, DoS, Mirai, Recon, Spoofing, Brute Force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724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18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2F51-99E6-F3D7-6D9B-33CA3FA6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u="none" strike="noStrike" dirty="0">
                <a:effectLst/>
                <a:latin typeface="quote-cjk-patch"/>
              </a:rPr>
              <a:t>Как мы использовали помощь </a:t>
            </a:r>
            <a:r>
              <a:rPr lang="en-US" b="0" i="0" u="none" strike="noStrike" dirty="0">
                <a:effectLst/>
                <a:latin typeface="quote-cjk-patch"/>
              </a:rPr>
              <a:t>LLM?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49166-94B6-DAD7-DC6C-A24641A9E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effectLst/>
                <a:latin typeface="quote-cjk-patch"/>
              </a:rPr>
              <a:t>Создали </a:t>
            </a:r>
            <a:r>
              <a:rPr lang="ru-RU" b="1" i="0" dirty="0" err="1">
                <a:effectLst/>
                <a:latin typeface="quote-cjk-patch"/>
              </a:rPr>
              <a:t>промпты</a:t>
            </a:r>
            <a:r>
              <a:rPr lang="ru-RU" b="0" i="0" dirty="0">
                <a:effectLst/>
                <a:latin typeface="quote-cjk-patch"/>
              </a:rPr>
              <a:t> на русском с чёткими требованиями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1" i="0" dirty="0">
                <a:effectLst/>
                <a:latin typeface="quote-cjk-patch"/>
              </a:rPr>
              <a:t>Сгенерировали код</a:t>
            </a:r>
            <a:r>
              <a:rPr lang="ru-RU" b="0" i="0" dirty="0">
                <a:effectLst/>
                <a:latin typeface="quote-cjk-patch"/>
              </a:rPr>
              <a:t> в трёх </a:t>
            </a:r>
            <a:r>
              <a:rPr lang="en-US" b="0" i="0" dirty="0">
                <a:effectLst/>
                <a:latin typeface="quote-cjk-patch"/>
              </a:rPr>
              <a:t>LLM</a:t>
            </a:r>
            <a:r>
              <a:rPr lang="ru-RU" b="0" i="0" dirty="0">
                <a:effectLst/>
                <a:latin typeface="quote-cjk-patch"/>
              </a:rPr>
              <a:t> пользуясь одинаковым </a:t>
            </a:r>
            <a:r>
              <a:rPr lang="ru-RU" b="0" i="0" dirty="0" err="1">
                <a:effectLst/>
                <a:latin typeface="quote-cjk-patch"/>
              </a:rPr>
              <a:t>пероначальным</a:t>
            </a:r>
            <a:r>
              <a:rPr lang="ru-RU" b="0" i="0" dirty="0">
                <a:effectLst/>
                <a:latin typeface="quote-cjk-patch"/>
              </a:rPr>
              <a:t> </a:t>
            </a:r>
            <a:r>
              <a:rPr lang="ru-RU" b="0" i="0" dirty="0" err="1">
                <a:effectLst/>
                <a:latin typeface="quote-cjk-patch"/>
              </a:rPr>
              <a:t>промптом</a:t>
            </a:r>
            <a:r>
              <a:rPr lang="en-US" b="0" i="0" dirty="0">
                <a:effectLst/>
                <a:latin typeface="quote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 err="1">
                <a:effectLst/>
                <a:latin typeface="quote-cjk-patch"/>
              </a:rPr>
              <a:t>DeepSeek</a:t>
            </a:r>
            <a:endParaRPr lang="en-US" b="0" i="0" dirty="0"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quote-cjk-patch"/>
              </a:rPr>
              <a:t>GPT-4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quote-cjk-patch"/>
              </a:rPr>
              <a:t>Qwen3.5-Plus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effectLst/>
                <a:latin typeface="quote-cjk-patch"/>
              </a:rPr>
              <a:t>Доработали</a:t>
            </a:r>
            <a:r>
              <a:rPr lang="ru-RU" b="0" i="0" dirty="0">
                <a:effectLst/>
                <a:latin typeface="quote-cjk-patch"/>
              </a:rPr>
              <a:t> код </a:t>
            </a:r>
            <a:r>
              <a:rPr lang="ru-RU" b="0" i="0" dirty="0" err="1">
                <a:effectLst/>
                <a:latin typeface="quote-cjk-patch"/>
              </a:rPr>
              <a:t>использкя</a:t>
            </a:r>
            <a:r>
              <a:rPr lang="ru-RU" b="0" i="0" dirty="0">
                <a:effectLst/>
                <a:latin typeface="quote-cjk-patch"/>
              </a:rPr>
              <a:t> уточняющие последующие </a:t>
            </a:r>
            <a:r>
              <a:rPr lang="ru-RU" b="0" i="0" dirty="0" err="1">
                <a:effectLst/>
                <a:latin typeface="quote-cjk-patch"/>
              </a:rPr>
              <a:t>промпты</a:t>
            </a:r>
            <a:endParaRPr lang="ru-RU" b="0" i="0" dirty="0"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effectLst/>
                <a:latin typeface="quote-cjk-patch"/>
              </a:rPr>
              <a:t>Обучили модели</a:t>
            </a:r>
            <a:r>
              <a:rPr lang="ru-RU" b="0" i="0" dirty="0">
                <a:effectLst/>
                <a:latin typeface="quote-cjk-patch"/>
              </a:rPr>
              <a:t> (</a:t>
            </a:r>
            <a:r>
              <a:rPr lang="en-US" b="0" i="0" dirty="0">
                <a:effectLst/>
                <a:latin typeface="quote-cjk-patch"/>
              </a:rPr>
              <a:t>Random Forest, </a:t>
            </a:r>
            <a:r>
              <a:rPr lang="en-US" b="0" i="0" dirty="0" err="1">
                <a:effectLst/>
                <a:latin typeface="quote-cjk-patch"/>
              </a:rPr>
              <a:t>XGBoost</a:t>
            </a:r>
            <a:r>
              <a:rPr lang="en-US" b="0" i="0" dirty="0">
                <a:effectLst/>
                <a:latin typeface="quote-cjk-patch"/>
              </a:rPr>
              <a:t>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effectLst/>
                <a:latin typeface="quote-cjk-patch"/>
              </a:rPr>
              <a:t>Сравнили</a:t>
            </a:r>
            <a:r>
              <a:rPr lang="ru-RU" b="0" i="0" dirty="0">
                <a:effectLst/>
                <a:latin typeface="quote-cjk-patch"/>
              </a:rPr>
              <a:t> по времени, объёму кода, качеству</a:t>
            </a:r>
          </a:p>
        </p:txBody>
      </p:sp>
    </p:spTree>
    <p:extLst>
      <p:ext uri="{BB962C8B-B14F-4D97-AF65-F5344CB8AC3E}">
        <p14:creationId xmlns:p14="http://schemas.microsoft.com/office/powerpoint/2010/main" val="3974179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2CFFF-F937-5240-4D5D-407AB95EA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u="none" strike="noStrike" dirty="0">
                <a:effectLst/>
                <a:latin typeface="quote-cjk-patch"/>
              </a:rPr>
              <a:t>Пример </a:t>
            </a:r>
            <a:r>
              <a:rPr lang="ru-RU" b="0" i="0" u="none" strike="noStrike" dirty="0" err="1">
                <a:effectLst/>
                <a:latin typeface="quote-cjk-patch"/>
              </a:rPr>
              <a:t>промпта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13DAC-E6BD-958F-9F70-44D737B7B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u="none" strike="noStrike" dirty="0">
                <a:effectLst/>
                <a:latin typeface="quote-cjk-patch"/>
              </a:rPr>
              <a:t>Ты — эксперт по машинному обучению в кибербезопасности. Напиши </a:t>
            </a:r>
            <a:r>
              <a:rPr lang="en-US" b="0" i="0" u="none" strike="noStrike" dirty="0">
                <a:effectLst/>
                <a:latin typeface="quote-cjk-patch"/>
              </a:rPr>
              <a:t>Python-</a:t>
            </a:r>
            <a:r>
              <a:rPr lang="ru-RU" b="0" i="0" u="none" strike="noStrike" dirty="0">
                <a:effectLst/>
                <a:latin typeface="quote-cjk-patch"/>
              </a:rPr>
              <a:t>скрипт для классификации трафика </a:t>
            </a:r>
            <a:r>
              <a:rPr lang="en-US" b="0" i="0" u="none" strike="noStrike" dirty="0" err="1">
                <a:effectLst/>
                <a:latin typeface="quote-cjk-patch"/>
              </a:rPr>
              <a:t>InSDN</a:t>
            </a:r>
            <a:r>
              <a:rPr lang="en-US" b="0" i="0" u="none" strike="noStrike" dirty="0">
                <a:effectLst/>
                <a:latin typeface="quote-cjk-patch"/>
              </a:rPr>
              <a:t>: </a:t>
            </a:r>
            <a:r>
              <a:rPr lang="ru-RU" b="0" i="0" u="none" strike="noStrike" dirty="0">
                <a:effectLst/>
                <a:latin typeface="quote-cjk-patch"/>
              </a:rPr>
              <a:t>объедини 3 </a:t>
            </a:r>
            <a:r>
              <a:rPr lang="en-US" b="0" i="0" u="none" strike="noStrike" dirty="0">
                <a:effectLst/>
                <a:latin typeface="quote-cjk-patch"/>
              </a:rPr>
              <a:t>CSV, </a:t>
            </a:r>
            <a:r>
              <a:rPr lang="ru-RU" b="0" i="0" u="none" strike="noStrike" dirty="0">
                <a:effectLst/>
                <a:latin typeface="quote-cjk-patch"/>
              </a:rPr>
              <a:t>обработай </a:t>
            </a:r>
            <a:r>
              <a:rPr lang="en-US" b="0" i="0" u="none" strike="noStrike" dirty="0">
                <a:effectLst/>
                <a:latin typeface="quote-cjk-patch"/>
              </a:rPr>
              <a:t>inf/</a:t>
            </a:r>
            <a:r>
              <a:rPr lang="en-US" b="0" i="0" u="none" strike="noStrike" dirty="0" err="1">
                <a:effectLst/>
                <a:latin typeface="quote-cjk-patch"/>
              </a:rPr>
              <a:t>NaN</a:t>
            </a:r>
            <a:r>
              <a:rPr lang="en-US" b="0" i="0" u="none" strike="noStrike" dirty="0">
                <a:effectLst/>
                <a:latin typeface="quote-cjk-patch"/>
              </a:rPr>
              <a:t>, </a:t>
            </a:r>
            <a:r>
              <a:rPr lang="ru-RU" b="0" i="0" u="none" strike="noStrike" dirty="0">
                <a:effectLst/>
                <a:latin typeface="quote-cjk-patch"/>
              </a:rPr>
              <a:t>удали </a:t>
            </a:r>
            <a:r>
              <a:rPr lang="en-US" b="0" i="0" u="none" strike="noStrike" dirty="0">
                <a:effectLst/>
                <a:latin typeface="quote-cjk-patch"/>
              </a:rPr>
              <a:t>IP-</a:t>
            </a:r>
            <a:r>
              <a:rPr lang="ru-RU" b="0" i="0" u="none" strike="noStrike" dirty="0">
                <a:effectLst/>
                <a:latin typeface="quote-cjk-patch"/>
              </a:rPr>
              <a:t>колонки, примени </a:t>
            </a:r>
            <a:r>
              <a:rPr lang="en-US" b="0" i="0" u="none" strike="noStrike" dirty="0">
                <a:effectLst/>
                <a:latin typeface="quote-cjk-patch"/>
              </a:rPr>
              <a:t>SMOTE, </a:t>
            </a:r>
            <a:r>
              <a:rPr lang="ru-RU" b="0" i="0" u="none" strike="noStrike" dirty="0">
                <a:effectLst/>
                <a:latin typeface="quote-cjk-patch"/>
              </a:rPr>
              <a:t>обучи </a:t>
            </a:r>
            <a:r>
              <a:rPr lang="en-US" b="0" i="0" u="none" strike="noStrike" dirty="0">
                <a:effectLst/>
                <a:latin typeface="quote-cjk-patch"/>
              </a:rPr>
              <a:t>Random Forest </a:t>
            </a:r>
            <a:r>
              <a:rPr lang="ru-RU" b="0" i="0" u="none" strike="noStrike" dirty="0">
                <a:effectLst/>
                <a:latin typeface="quote-cjk-patch"/>
              </a:rPr>
              <a:t>и </a:t>
            </a:r>
            <a:r>
              <a:rPr lang="en-US" b="0" i="0" u="none" strike="noStrike" dirty="0" err="1">
                <a:effectLst/>
                <a:latin typeface="quote-cjk-patch"/>
              </a:rPr>
              <a:t>XGBoost</a:t>
            </a:r>
            <a:r>
              <a:rPr lang="en-US" b="0" i="0" u="none" strike="noStrike" dirty="0">
                <a:effectLst/>
                <a:latin typeface="quote-cjk-patch"/>
              </a:rPr>
              <a:t>, </a:t>
            </a:r>
            <a:r>
              <a:rPr lang="ru-RU" b="0" i="0" u="none" strike="noStrike" dirty="0">
                <a:effectLst/>
                <a:latin typeface="quote-cjk-patch"/>
              </a:rPr>
              <a:t>выведи </a:t>
            </a:r>
            <a:r>
              <a:rPr lang="en-US" b="0" i="0" u="none" strike="noStrike" dirty="0">
                <a:effectLst/>
                <a:latin typeface="quote-cjk-patch"/>
              </a:rPr>
              <a:t>classification report </a:t>
            </a:r>
            <a:r>
              <a:rPr lang="ru-RU" b="0" i="0" u="none" strike="noStrike" dirty="0">
                <a:effectLst/>
                <a:latin typeface="quote-cjk-patch"/>
              </a:rPr>
              <a:t>и </a:t>
            </a:r>
            <a:r>
              <a:rPr lang="en-US" b="0" i="0" u="none" strike="noStrike" dirty="0">
                <a:effectLst/>
                <a:latin typeface="quote-cjk-patch"/>
              </a:rPr>
              <a:t>confusion matrix.</a:t>
            </a:r>
            <a:endParaRPr lang="ru-RU" b="0" i="0" u="none" strike="noStrike" dirty="0">
              <a:effectLst/>
              <a:latin typeface="quote-cjk-patch"/>
            </a:endParaRPr>
          </a:p>
          <a:p>
            <a:pPr marL="0" indent="0">
              <a:buNone/>
            </a:pPr>
            <a:endParaRPr lang="ru-RU" dirty="0">
              <a:latin typeface="quote-cjk-patch"/>
            </a:endParaRPr>
          </a:p>
          <a:p>
            <a:pPr marL="0" indent="0">
              <a:buNone/>
            </a:pPr>
            <a:r>
              <a:rPr lang="ru-RU" dirty="0">
                <a:latin typeface="quote-cjk-patch"/>
              </a:rPr>
              <a:t>Первоначальный </a:t>
            </a:r>
            <a:r>
              <a:rPr lang="ru-RU" dirty="0" err="1">
                <a:latin typeface="quote-cjk-patch"/>
              </a:rPr>
              <a:t>п</a:t>
            </a:r>
            <a:r>
              <a:rPr lang="ru-RU" b="0" i="0" u="none" strike="noStrike" dirty="0" err="1">
                <a:effectLst/>
                <a:latin typeface="quote-cjk-patch"/>
              </a:rPr>
              <a:t>ромпт</a:t>
            </a:r>
            <a:r>
              <a:rPr lang="ru-RU" b="0" i="0" u="none" strike="noStrike" dirty="0">
                <a:effectLst/>
                <a:latin typeface="quote-cjk-patch"/>
              </a:rPr>
              <a:t> задаёт 90% структуры, остальное - итеративные уточнения и исправления </a:t>
            </a:r>
          </a:p>
          <a:p>
            <a:pPr marL="0" indent="0">
              <a:buNone/>
            </a:pPr>
            <a:r>
              <a:rPr lang="ru-RU" b="0" i="0" u="none" strike="noStrike" dirty="0">
                <a:effectLst/>
                <a:latin typeface="quote-cjk-patch"/>
              </a:rPr>
              <a:t>(о чем так же говорил в своем интервью Карпаты)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91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7D90-096A-23E9-FB9B-CB3A5B831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quote-cjk-patch"/>
              </a:rPr>
              <a:t>Какая </a:t>
            </a:r>
            <a:r>
              <a:rPr lang="en-US" b="0" i="0" dirty="0">
                <a:effectLst/>
                <a:latin typeface="quote-cjk-patch"/>
              </a:rPr>
              <a:t>LLM </a:t>
            </a:r>
            <a:r>
              <a:rPr lang="ru-RU" b="0" i="0" dirty="0">
                <a:effectLst/>
                <a:latin typeface="quote-cjk-patch"/>
              </a:rPr>
              <a:t>справилась лучше?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9A5382-F8E5-21E7-A8F6-7B6CA1023C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9569034"/>
              </p:ext>
            </p:extLst>
          </p:nvPr>
        </p:nvGraphicFramePr>
        <p:xfrm>
          <a:off x="838200" y="1825625"/>
          <a:ext cx="10515600" cy="26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559814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969913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520502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42596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Параметр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GPT-4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547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Объём кода (строк)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667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72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Точность (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9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Понимание русского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Понимает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Понимает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Понимает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984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Ограничения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Полностью бесплатный, без лимитов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 дневной лимит, а так же просит купить платную версию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Полностью бесплатный, без лимитов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21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36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2797-D630-8BAB-608A-C32A6332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effectLst/>
                <a:latin typeface="quote-cjk-patch"/>
              </a:rPr>
              <a:t>LLM </a:t>
            </a:r>
            <a:r>
              <a:rPr lang="ru-RU" dirty="0">
                <a:latin typeface="quote-cjk-patch"/>
              </a:rPr>
              <a:t>в сравнении с </a:t>
            </a:r>
            <a:r>
              <a:rPr lang="ru-RU" b="0" i="0" u="none" strike="noStrike" dirty="0">
                <a:effectLst/>
                <a:latin typeface="quote-cjk-patch"/>
              </a:rPr>
              <a:t>ручной разработкой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F87821-2314-42EB-D72B-430EF6A13C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8496044"/>
              </p:ext>
            </p:extLst>
          </p:nvPr>
        </p:nvGraphicFramePr>
        <p:xfrm>
          <a:off x="838200" y="1690688"/>
          <a:ext cx="9773355" cy="3979388"/>
        </p:xfrm>
        <a:graphic>
          <a:graphicData uri="http://schemas.openxmlformats.org/drawingml/2006/table">
            <a:tbl>
              <a:tblPr/>
              <a:tblGrid>
                <a:gridCol w="3257785">
                  <a:extLst>
                    <a:ext uri="{9D8B030D-6E8A-4147-A177-3AD203B41FA5}">
                      <a16:colId xmlns:a16="http://schemas.microsoft.com/office/drawing/2014/main" val="863513751"/>
                    </a:ext>
                  </a:extLst>
                </a:gridCol>
                <a:gridCol w="3257785">
                  <a:extLst>
                    <a:ext uri="{9D8B030D-6E8A-4147-A177-3AD203B41FA5}">
                      <a16:colId xmlns:a16="http://schemas.microsoft.com/office/drawing/2014/main" val="359517390"/>
                    </a:ext>
                  </a:extLst>
                </a:gridCol>
                <a:gridCol w="3257785">
                  <a:extLst>
                    <a:ext uri="{9D8B030D-6E8A-4147-A177-3AD203B41FA5}">
                      <a16:colId xmlns:a16="http://schemas.microsoft.com/office/drawing/2014/main" val="1736849508"/>
                    </a:ext>
                  </a:extLst>
                </a:gridCol>
              </a:tblGrid>
              <a:tr h="554207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Параметр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LLM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Ручная реализация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007306"/>
                  </a:ext>
                </a:extLst>
              </a:tr>
              <a:tr h="554207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Время разработки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20–30 мин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6–8 часов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581659"/>
                  </a:ext>
                </a:extLst>
              </a:tr>
              <a:tr h="554207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Объём кода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300–700 строк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400–900 строк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545741"/>
                  </a:ext>
                </a:extLst>
              </a:tr>
              <a:tr h="554207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F1-score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0.99–1.00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0.98–0.99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56820"/>
                  </a:ext>
                </a:extLst>
              </a:tr>
              <a:tr h="88128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Обработка </a:t>
                      </a:r>
                      <a:r>
                        <a:rPr lang="en-US">
                          <a:effectLst/>
                        </a:rPr>
                        <a:t>edge cases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базовая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продвинутая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836109"/>
                  </a:ext>
                </a:extLst>
              </a:tr>
              <a:tr h="88128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Комментарии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отличные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зависит от разработчика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71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297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9908-C103-FD5D-6B6A-EFA83BF09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2244" cy="1325563"/>
          </a:xfrm>
        </p:spPr>
        <p:txBody>
          <a:bodyPr/>
          <a:lstStyle/>
          <a:p>
            <a:r>
              <a:rPr lang="ru-RU" b="0" i="0" u="none" strike="noStrike" dirty="0">
                <a:effectLst/>
                <a:latin typeface="quote-cjk-patch"/>
              </a:rPr>
              <a:t>Андрей Карпаты о программировании с </a:t>
            </a:r>
            <a:r>
              <a:rPr lang="en-US" b="0" i="0" u="none" strike="noStrike" dirty="0">
                <a:effectLst/>
                <a:latin typeface="quote-cjk-patch"/>
              </a:rPr>
              <a:t>LLM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8AA4E-863E-F822-1145-C54014EE9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02243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i="1" dirty="0">
                <a:latin typeface="quote-cjk-patch"/>
              </a:rPr>
              <a:t>“</a:t>
            </a:r>
            <a:r>
              <a:rPr lang="ru-RU" b="0" i="1" dirty="0">
                <a:effectLst/>
                <a:latin typeface="quote-cjk-patch"/>
              </a:rPr>
              <a:t>Я не написал ни строчки кода с декабря, только даю указания агентам.</a:t>
            </a:r>
            <a:r>
              <a:rPr lang="en-US" b="0" i="1" dirty="0">
                <a:effectLst/>
                <a:latin typeface="quote-cjk-patch"/>
              </a:rPr>
              <a:t>”</a:t>
            </a:r>
            <a:endParaRPr lang="ru-RU" b="0" i="1" dirty="0">
              <a:effectLst/>
              <a:latin typeface="quote-cjk-patch"/>
            </a:endParaRPr>
          </a:p>
          <a:p>
            <a:pPr marL="0" indent="0">
              <a:buNone/>
            </a:pPr>
            <a:endParaRPr lang="ru-RU" i="1" dirty="0"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i="0" dirty="0">
                <a:effectLst/>
                <a:latin typeface="quote-cjk-patch"/>
              </a:rPr>
              <a:t>Вывод Карпаты, который совпал с нашим опытом: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quote-cjk-patch"/>
              </a:rPr>
              <a:t>Качество кода </a:t>
            </a:r>
            <a:r>
              <a:rPr lang="en-US" i="0" dirty="0">
                <a:effectLst/>
                <a:latin typeface="quote-cjk-patch"/>
              </a:rPr>
              <a:t>LLM </a:t>
            </a:r>
            <a:r>
              <a:rPr lang="ru-RU" i="0" dirty="0">
                <a:effectLst/>
                <a:latin typeface="quote-cjk-patch"/>
              </a:rPr>
              <a:t>зависит от качества </a:t>
            </a:r>
            <a:r>
              <a:rPr lang="ru-RU" i="0" dirty="0" err="1">
                <a:effectLst/>
                <a:latin typeface="quote-cjk-patch"/>
              </a:rPr>
              <a:t>промпта</a:t>
            </a:r>
            <a:endParaRPr lang="ru-RU" i="0" dirty="0"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quote-cjk-patch"/>
              </a:rPr>
              <a:t>LLM </a:t>
            </a:r>
            <a:r>
              <a:rPr lang="ru-RU" i="0" dirty="0">
                <a:effectLst/>
                <a:latin typeface="quote-cjk-patch"/>
              </a:rPr>
              <a:t>может оптимизировать уже написанный код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quote-cjk-patch"/>
              </a:rPr>
              <a:t>Эксперт остаётся незаменимым для контроля и интерпретации</a:t>
            </a:r>
          </a:p>
          <a:p>
            <a:pPr marL="0" indent="0">
              <a:buNone/>
            </a:pP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495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DA25-55D9-5F85-E2AD-ADEDCC9A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u="none" strike="noStrike" dirty="0">
                <a:effectLst/>
                <a:latin typeface="quote-cjk-patch"/>
              </a:rPr>
              <a:t>Что мы получили?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66898-57E1-B826-340E-699600B8C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i="0" dirty="0">
                <a:effectLst/>
                <a:latin typeface="quote-cjk-patch"/>
              </a:rPr>
              <a:t>LLM </a:t>
            </a:r>
            <a:r>
              <a:rPr lang="ru-RU" i="0" dirty="0">
                <a:effectLst/>
                <a:latin typeface="quote-cjk-patch"/>
              </a:rPr>
              <a:t>ускоряет написание кода в 10–15 раз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i="0" dirty="0">
                <a:effectLst/>
                <a:latin typeface="quote-cjk-patch"/>
              </a:rPr>
              <a:t>Код </a:t>
            </a:r>
            <a:r>
              <a:rPr lang="en-US" i="0" dirty="0">
                <a:effectLst/>
                <a:latin typeface="quote-cjk-patch"/>
              </a:rPr>
              <a:t>LLM </a:t>
            </a:r>
            <a:r>
              <a:rPr lang="ru-RU" i="0" dirty="0">
                <a:effectLst/>
                <a:latin typeface="quote-cjk-patch"/>
              </a:rPr>
              <a:t>не уступает ручному по читаемости и метрикам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i="0" dirty="0">
                <a:effectLst/>
                <a:latin typeface="quote-cjk-patch"/>
              </a:rPr>
              <a:t>Ключевой навык — умение составлять точный </a:t>
            </a:r>
            <a:r>
              <a:rPr lang="ru-RU" i="0" dirty="0" err="1">
                <a:effectLst/>
                <a:latin typeface="quote-cjk-patch"/>
              </a:rPr>
              <a:t>промпт</a:t>
            </a:r>
            <a:endParaRPr lang="ru-RU" i="0" dirty="0"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i="0" dirty="0">
                <a:effectLst/>
                <a:latin typeface="quote-cjk-patch"/>
              </a:rPr>
              <a:t>Ограничения: </a:t>
            </a:r>
            <a:r>
              <a:rPr lang="en-US" i="0" dirty="0">
                <a:effectLst/>
                <a:latin typeface="quote-cjk-patch"/>
              </a:rPr>
              <a:t>LLM </a:t>
            </a:r>
            <a:r>
              <a:rPr lang="ru-RU" i="0" dirty="0">
                <a:effectLst/>
                <a:latin typeface="quote-cjk-patch"/>
              </a:rPr>
              <a:t>не заменяет эксперта для </a:t>
            </a:r>
            <a:r>
              <a:rPr lang="en-US" i="0" dirty="0">
                <a:effectLst/>
                <a:latin typeface="quote-cjk-patch"/>
              </a:rPr>
              <a:t>production </a:t>
            </a:r>
            <a:r>
              <a:rPr lang="ru-RU" i="0" dirty="0">
                <a:effectLst/>
                <a:latin typeface="quote-cjk-patch"/>
              </a:rPr>
              <a:t>и глубокой интерпретации (</a:t>
            </a:r>
            <a:r>
              <a:rPr lang="en-US" i="0" dirty="0">
                <a:effectLst/>
                <a:latin typeface="quote-cjk-patch"/>
              </a:rPr>
              <a:t>SHAP, </a:t>
            </a:r>
            <a:r>
              <a:rPr lang="ru-RU" i="0" dirty="0" err="1">
                <a:effectLst/>
                <a:latin typeface="quote-cjk-patch"/>
              </a:rPr>
              <a:t>мультиколлинеарность</a:t>
            </a:r>
            <a:r>
              <a:rPr lang="ru-RU" i="0" dirty="0">
                <a:effectLst/>
                <a:latin typeface="quote-cjk-patch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444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D75A-66C2-D409-06EB-39241AF88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867" y="2103437"/>
            <a:ext cx="10515600" cy="1325563"/>
          </a:xfrm>
        </p:spPr>
        <p:txBody>
          <a:bodyPr/>
          <a:lstStyle/>
          <a:p>
            <a:r>
              <a:rPr lang="ru-RU" dirty="0"/>
              <a:t>Спасибо за внимание!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850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433</Words>
  <Application>Microsoft Macintosh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quote-cjk-patch</vt:lpstr>
      <vt:lpstr>Times New Roman</vt:lpstr>
      <vt:lpstr>Office Theme</vt:lpstr>
      <vt:lpstr>Генерация приложений для анализа сетевого трафика с помощью LLM</vt:lpstr>
      <vt:lpstr>Почему это важно?</vt:lpstr>
      <vt:lpstr>Используемые датасеты</vt:lpstr>
      <vt:lpstr>Как мы использовали помощь LLM?</vt:lpstr>
      <vt:lpstr>Пример промпта</vt:lpstr>
      <vt:lpstr>Какая LLM справилась лучше?</vt:lpstr>
      <vt:lpstr>LLM в сравнении с ручной разработкой</vt:lpstr>
      <vt:lpstr>Андрей Карпаты о программировании с LLM</vt:lpstr>
      <vt:lpstr>Что мы получили?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Dmitry Fedorov</dc:creator>
  <cp:lastModifiedBy>Dmitry Fedorov</cp:lastModifiedBy>
  <cp:revision>21</cp:revision>
  <dcterms:created xsi:type="dcterms:W3CDTF">2026-04-01T17:59:56Z</dcterms:created>
  <dcterms:modified xsi:type="dcterms:W3CDTF">2026-04-01T18:46:44Z</dcterms:modified>
</cp:coreProperties>
</file>